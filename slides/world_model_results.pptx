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Social Media World Model</a:t>
            </a:r>
          </a:p>
          <a:p>
            <a:pPr>
              <a:spcAft>
                <a:spcPts val="400"/>
              </a:spcAft>
              <a:defRPr sz="2200" b="0">
                <a:solidFill>
                  <a:srgbClr val="9EC5E8"/>
                </a:solidFill>
                <a:latin typeface="Calibri"/>
              </a:defRPr>
            </a:pPr>
            <a:r>
              <a:t>Benchmark, Generalization &amp; Reply-Summary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Task: predict a stimulus comment's engagement — score, controversiality, reply width, reply summary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Headline metric: Spearman ρ (scale-invariant ranking) + pairwise accuracy; macro-F1 for controversiality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What's new: 18 baselines (was 6) · cross-domain · temporal · data-scaling · LLM-as-judge on summaries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Data: Reddit r/politics (7,596 train / 1,900 test) + 5 subreddits × 3 months for 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7EA5C8"/>
                </a:solidFill>
                <a:latin typeface="Calibri"/>
              </a:defRPr>
            </a:pPr>
            <a:r>
              <a:t>Qwen3-4B LoRA fine-tuned on H20 GPUs via GitHub Actions runner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1 · Main Benchmark (r/politics, 1,900 test)</a:t>
            </a:r>
          </a:p>
          <a:p>
            <a:pPr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Cheap supervised models lead; conversation structure carries most of the signal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7040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  <a:gridCol w="1005840"/>
              </a:tblGrid>
              <a:tr h="448056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 ρ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width ρ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 F1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quantile_gbm (LightGBM)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0.760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0.687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0.557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tabular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feature_gbdt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0.676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0.424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tabular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structural_prior  (NO text)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0.750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0.670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0.415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graph-only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gnn (reply-tree)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0.745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0.676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0.494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graph NN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llm_reghead Qwen3-4B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0.731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0.663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0.494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LLM+heads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llm_sft Qwen3-4B (JSON)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0.724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0.541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0.545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LLM SFT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encoder (DistilBERT)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0.720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0.642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0.494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encoder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Qwen3-32B zero-shot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0.482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0.477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0.311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LLM 0-shot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Qwen3-4B zero-shot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0.374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0.508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0.223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LLM 0-shot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3258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t>Key findings</a:t>
            </a:r>
          </a:p>
          <a:p>
            <a:pPr>
              <a:spcAft>
                <a:spcPts val="900"/>
              </a:spcAft>
              <a:defRPr sz="1300">
                <a:latin typeface="Calibri"/>
              </a:defRPr>
            </a:pPr>
            <a:r>
              <a:rPr b="1">
                <a:solidFill>
                  <a:srgbClr val="2E86C1"/>
                </a:solidFill>
              </a:rPr>
              <a:t>• Structure &gt; text. A text-free structural prior (ρ=0.750) and a reply-tree GNN (0.745) rival the best text model.</a:t>
            </a:r>
          </a:p>
          <a:p>
            <a:pPr>
              <a:spcAft>
                <a:spcPts val="900"/>
              </a:spcAft>
              <a:defRPr sz="1300">
                <a:latin typeface="Calibri"/>
              </a:defRPr>
            </a:pPr>
            <a:r>
              <a:rPr b="1">
                <a:solidFill>
                  <a:srgbClr val="2E86C1"/>
                </a:solidFill>
              </a:rPr>
              <a:t>• Cheap wins. A sub-second LightGBM beats every LLM on ranking.</a:t>
            </a:r>
          </a:p>
          <a:p>
            <a:pPr>
              <a:spcAft>
                <a:spcPts val="900"/>
              </a:spcAft>
              <a:defRPr sz="1300">
                <a:latin typeface="Calibri"/>
              </a:defRPr>
            </a:pPr>
            <a:r>
              <a:rPr b="1">
                <a:solidFill>
                  <a:srgbClr val="2E86C1"/>
                </a:solidFill>
              </a:rPr>
              <a:t>• Reg-head &gt; JSON. llm_reghead lifts SFT 0.724→0.731 (score), 0.541→0.663 (width), 0% parse failures vs 81%.</a:t>
            </a:r>
          </a:p>
          <a:p>
            <a:pPr>
              <a:spcAft>
                <a:spcPts val="900"/>
              </a:spcAft>
              <a:defRPr sz="1300">
                <a:latin typeface="Calibri"/>
              </a:defRPr>
            </a:pPr>
            <a:r>
              <a:rPr b="1">
                <a:solidFill>
                  <a:srgbClr val="2E86C1"/>
                </a:solidFill>
              </a:rPr>
              <a:t>• Fine-tuning helps LLMs a lot. Qwen3-4B 0.374→0.724; tuned 4B beats zero-shot 32B.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2 · Generalization: is it a world model?</a:t>
            </a:r>
          </a:p>
          <a:p>
            <a:pPr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Trains on politics, transfers across domains &amp; time; keeps improving with data</a:t>
            </a:r>
          </a:p>
        </p:txBody>
      </p:sp>
      <p:pic>
        <p:nvPicPr>
          <p:cNvPr id="4" name="Picture 3" descr="cross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34440"/>
            <a:ext cx="3913632" cy="2888244"/>
          </a:xfrm>
          <a:prstGeom prst="rect">
            <a:avLst/>
          </a:prstGeom>
        </p:spPr>
      </p:pic>
      <p:pic>
        <p:nvPicPr>
          <p:cNvPr id="5" name="Picture 4" descr="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1234440"/>
            <a:ext cx="3913632" cy="2668942"/>
          </a:xfrm>
          <a:prstGeom prst="rect">
            <a:avLst/>
          </a:prstGeom>
        </p:spPr>
      </p:pic>
      <p:pic>
        <p:nvPicPr>
          <p:cNvPr id="6" name="Picture 5" descr="data_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234440"/>
            <a:ext cx="3913632" cy="26689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709160"/>
            <a:ext cx="11521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A5F"/>
                </a:solidFill>
                <a:latin typeface="Calibri"/>
              </a:defRPr>
            </a:pPr>
            <a:r>
              <a:t>Takeaways</a:t>
            </a:r>
          </a:p>
          <a:p>
            <a:pPr>
              <a:spcAft>
                <a:spcPts val="700"/>
              </a:spcAft>
              <a:defRPr sz="1350">
                <a:latin typeface="Calibri"/>
              </a:defRPr>
            </a:pPr>
            <a:r>
              <a:rPr b="1">
                <a:solidFill>
                  <a:srgbClr val="1E8B4E"/>
                </a:solidFill>
              </a:rPr>
              <a:t>• Cross-domain: graceful — only ≈0.02–0.09 ρ drop to 4 unseen subreddits; structural/GNN transfer best.</a:t>
            </a:r>
          </a:p>
          <a:p>
            <a:pPr>
              <a:spcAft>
                <a:spcPts val="700"/>
              </a:spcAft>
              <a:defRPr sz="1350">
                <a:latin typeface="Calibri"/>
              </a:defRPr>
            </a:pPr>
            <a:r>
              <a:rPr b="1">
                <a:solidFill>
                  <a:srgbClr val="1E8B4E"/>
                </a:solidFill>
              </a:rPr>
              <a:t>• Temporal: very stable — ≤0.03 ρ over 16 months back; engagement dynamics don't rot. Time-shift &lt; domain-shift.</a:t>
            </a:r>
          </a:p>
          <a:p>
            <a:pPr>
              <a:spcAft>
                <a:spcPts val="700"/>
              </a:spcAft>
              <a:defRPr sz="1350">
                <a:latin typeface="Calibri"/>
              </a:defRPr>
            </a:pPr>
            <a:r>
              <a:rPr b="1">
                <a:solidFill>
                  <a:srgbClr val="1E8B4E"/>
                </a:solidFill>
              </a:rPr>
              <a:t>• Scaling: tree models monotonic &amp; NOT saturated at 7,596 → more data should help; linear GLMs saturate 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3 · Reply-Summary Quality — LLM-as-Judge (Qwen3-32B)</a:t>
            </a:r>
          </a:p>
          <a:p>
            <a:pPr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200 common records rated 1–5 vs the gold reference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60350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22960"/>
                <a:gridCol w="548640"/>
                <a:gridCol w="548640"/>
                <a:gridCol w="548640"/>
                <a:gridCol w="548640"/>
                <a:gridCol w="54864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T="12700" marB="12700" marL="63500" marR="63500">
                    <a:solidFill>
                      <a:srgbClr val="2E86C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Qwen3-4B zero-shot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2.12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T="12700" marB="12700" marL="63500" marR="63500">
                    <a:solidFill>
                      <a:srgbClr val="ECF2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Qwen3-32B zero-shot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2.07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161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llm_sft Qwen3-4B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1.95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148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12700" marB="127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29184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3A5F"/>
                </a:solidFill>
                <a:latin typeface="Calibri"/>
              </a:defRPr>
            </a:pPr>
            <a:r>
              <a:t>Findings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555555"/>
                </a:solidFill>
              </a:rPr>
              <a:t>• Summary forecasting is unsolved. All ~2/5 — predicting the content/sentiment of UNSEEN future replies is genuinely hard.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B03A2E"/>
                </a:solidFill>
              </a:rPr>
              <a:t>• Fine-tuning HURT it. SFT is worst (1.95) with the most 'unrelated' 1s — LoRA-SFT traded text quality for numeric/JSON.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555555"/>
                </a:solidFill>
              </a:rPr>
              <a:t>• Scale doesn't help. 32B ≈ 4B zero-shot.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555555"/>
                </a:solidFill>
              </a:rPr>
              <a:t>• Judge is reliable. Discriminates 1/3/4–5 with specific reasons; 0% parse failures.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325880"/>
            <a:ext cx="4983480" cy="5120640"/>
          </a:xfrm>
          <a:prstGeom prst="rect">
            <a:avLst/>
          </a:prstGeom>
          <a:solidFill>
            <a:srgbClr val="ECF2F9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>
              <a:spcAft>
                <a:spcPts val="100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t>Overall conclusions</a:t>
            </a:r>
          </a:p>
          <a:p>
            <a:pPr>
              <a:spcAft>
                <a:spcPts val="900"/>
              </a:spcAft>
              <a:defRPr sz="1300">
                <a:solidFill>
                  <a:srgbClr val="1F3A5F"/>
                </a:solidFill>
                <a:latin typeface="Calibri"/>
              </a:defRPr>
            </a:pPr>
            <a:r>
              <a:t>• Conversation STRUCTURE is the dominant, domain/time-transferable signal.</a:t>
            </a:r>
          </a:p>
          <a:p>
            <a:pPr>
              <a:spcAft>
                <a:spcPts val="900"/>
              </a:spcAft>
              <a:defRPr sz="1300">
                <a:solidFill>
                  <a:srgbClr val="1F3A5F"/>
                </a:solidFill>
                <a:latin typeface="Calibri"/>
              </a:defRPr>
            </a:pPr>
            <a:r>
              <a:t>• A cheap LightGBM is the strongest, most scalable world model — beats fine-tuned &amp; 32B LLMs on ranking.</a:t>
            </a:r>
          </a:p>
          <a:p>
            <a:pPr>
              <a:spcAft>
                <a:spcPts val="900"/>
              </a:spcAft>
              <a:defRPr sz="1300">
                <a:solidFill>
                  <a:srgbClr val="1F3A5F"/>
                </a:solidFill>
                <a:latin typeface="Calibri"/>
              </a:defRPr>
            </a:pPr>
            <a:r>
              <a:t>• Numeric channel is strong (ρ≈0.76) and generalizes; TEXT (reply summary) channel is not yet usable.</a:t>
            </a:r>
          </a:p>
          <a:p>
            <a:pPr>
              <a:spcAft>
                <a:spcPts val="900"/>
              </a:spcAft>
              <a:defRPr sz="1300">
                <a:solidFill>
                  <a:srgbClr val="1F3A5F"/>
                </a:solidFill>
                <a:latin typeface="Calibri"/>
              </a:defRPr>
            </a:pPr>
            <a:r>
              <a:t>• Numeric-vs-text trade-off: the SFT model best on numbers is the worst summarizer.</a:t>
            </a:r>
          </a:p>
          <a:p>
            <a:pPr>
              <a:spcAft>
                <a:spcPts val="900"/>
              </a:spcAft>
              <a:defRPr sz="1300">
                <a:solidFill>
                  <a:srgbClr val="1F3A5F"/>
                </a:solidFill>
                <a:latin typeface="Calibri"/>
              </a:defRPr>
            </a:pPr>
            <a:r>
              <a:t>• Next: dedicated summary decoder; imbalance-aware controversiality; scale the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