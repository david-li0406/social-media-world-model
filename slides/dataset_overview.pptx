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A Multi-Year Reddit Engagement Dataset</a:t>
            </a:r>
          </a:p>
          <a:p>
            <a:pPr>
              <a:spcAft>
                <a:spcPts val="400"/>
              </a:spcAft>
              <a:defRPr sz="1250" b="0">
                <a:solidFill>
                  <a:srgbClr val="CCDDEE"/>
                </a:solidFill>
                <a:latin typeface="Calibri"/>
              </a:defRPr>
            </a:pPr>
            <a:r>
              <a:t>Comment-level engagement prediction: score, reply count, controversiality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2651760" cy="1371600"/>
          </a:xfrm>
          <a:prstGeom prst="rect">
            <a:avLst/>
          </a:prstGeom>
          <a:solidFill>
            <a:srgbClr val="ECF2F9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53895"/>
            <a:ext cx="243230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2E86C1"/>
                </a:solidFill>
                <a:latin typeface="Calibri"/>
              </a:defRPr>
            </a:pPr>
            <a:r>
              <a:t>443K</a:t>
            </a:r>
          </a:p>
          <a:p>
            <a:pPr algn="ctr">
              <a:spcAft>
                <a:spcPts val="4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comments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325880"/>
            <a:ext cx="2651760" cy="1371600"/>
          </a:xfrm>
          <a:prstGeom prst="rect">
            <a:avLst/>
          </a:prstGeom>
          <a:solidFill>
            <a:srgbClr val="ECF2F9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3008" y="1453895"/>
            <a:ext cx="243230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2E86C1"/>
                </a:solidFill>
                <a:latin typeface="Calibri"/>
              </a:defRPr>
            </a:pPr>
            <a:r>
              <a:t>151K</a:t>
            </a:r>
          </a:p>
          <a:p>
            <a:pPr algn="ctr">
              <a:spcAft>
                <a:spcPts val="4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threads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2651760" cy="1371600"/>
          </a:xfrm>
          <a:prstGeom prst="rect">
            <a:avLst/>
          </a:prstGeom>
          <a:solidFill>
            <a:srgbClr val="ECF2F9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53895"/>
            <a:ext cx="243230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2E86C1"/>
                </a:solidFill>
                <a:latin typeface="Calibri"/>
              </a:defRPr>
            </a:pPr>
            <a:r>
              <a:t>160K</a:t>
            </a:r>
          </a:p>
          <a:p>
            <a:pPr algn="ctr">
              <a:spcAft>
                <a:spcPts val="4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unique authors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325880"/>
            <a:ext cx="2542032" cy="1371600"/>
          </a:xfrm>
          <a:prstGeom prst="rect">
            <a:avLst/>
          </a:prstGeom>
          <a:solidFill>
            <a:srgbClr val="ECF2F9"/>
          </a:solidFill>
          <a:ln w="1587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3728" y="1453895"/>
            <a:ext cx="232257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2E86C1"/>
                </a:solidFill>
                <a:latin typeface="Calibri"/>
              </a:defRPr>
            </a:pPr>
            <a:r>
              <a:t>11 yrs</a:t>
            </a:r>
          </a:p>
          <a:p>
            <a:pPr algn="ctr">
              <a:spcAft>
                <a:spcPts val="4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2014 - 2025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971800"/>
          <a:ext cx="1118311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976872"/>
              </a:tblGrid>
              <a:tr h="3886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latin typeface="Calibri"/>
                        </a:defRPr>
                      </a:pPr>
                      <a:r>
                        <a:t>records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443,211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latin typeface="Calibri"/>
                        </a:defRPr>
                      </a:pPr>
                      <a:r>
                        <a:t>threads (posts)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151,249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latin typeface="Calibri"/>
                        </a:defRPr>
                      </a:pPr>
                      <a:r>
                        <a:t>unique authors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159,826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latin typeface="Calibri"/>
                        </a:defRPr>
                      </a:pPr>
                      <a:r>
                        <a:t>subreddits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  (r/Conservative, r/politics, r/worldnews, ...)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latin typeface="Calibri"/>
                        </a:defRPr>
                      </a:pPr>
                      <a:r>
                        <a:t>months sampled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23  (2014-01 to 2025-09)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latin typeface="Calibri"/>
                        </a:defRPr>
                      </a:pPr>
                      <a:r>
                        <a:t>split: random (by thread)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354,658 train / 88,553 test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defRPr sz="1300">
                          <a:latin typeface="Calibri"/>
                        </a:defRPr>
                      </a:pPr>
                      <a:r>
                        <a:t>split: temporal (by month)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383,083 train / 60,000 test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61447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One record = one comment, with its ancestor chain as context. Splits are disjoint by thread, so no thread appears on both sides.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Coverage</a:t>
            </a:r>
          </a:p>
          <a:p>
            <a:pPr>
              <a:spcAft>
                <a:spcPts val="400"/>
              </a:spcAft>
              <a:defRPr sz="1250" b="0">
                <a:solidFill>
                  <a:srgbClr val="CCDDEE"/>
                </a:solidFill>
                <a:latin typeface="Calibri"/>
              </a:defRPr>
            </a:pPr>
            <a:r>
              <a:t>23 months x 5 subreddits, balanced by design</a:t>
            </a:r>
          </a:p>
        </p:txBody>
      </p:sp>
      <p:pic>
        <p:nvPicPr>
          <p:cNvPr id="4" name="Picture 3" descr="d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83112" cy="319517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4612494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37360"/>
                <a:gridCol w="1371600"/>
              </a:tblGrid>
              <a:tr h="3048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subreddit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records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r/Conservative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92,000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20.8%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r/politics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92,000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20.8%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r/worldnews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90,402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20.4%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r/news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88,632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1150">
                          <a:latin typeface="Calibri"/>
                        </a:defRPr>
                      </a:pPr>
                      <a:r>
                        <a:t>r/technology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80,177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latin typeface="Calibri"/>
                        </a:defRPr>
                      </a:pPr>
                      <a:r>
                        <a:t>18.1%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4612494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Sampling</a:t>
            </a:r>
          </a:p>
          <a:p>
            <a:pPr>
              <a:spcAft>
                <a:spcPts val="7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•  Months chosen across 2014-2025; each screened so the controversiality field is actually populated.</a:t>
            </a:r>
          </a:p>
          <a:p>
            <a:pPr>
              <a:spcAft>
                <a:spcPts val="7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•  Per cell: up to 1,500 threads, max 6 comments per thread, capped at 4,000 records.</a:t>
            </a:r>
          </a:p>
          <a:p>
            <a:pPr>
              <a:spcAft>
                <a:spcPts val="7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•  Comments in the final 2 days of a dump are dropped - their replies fall into the next month's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Prediction Targets</a:t>
            </a:r>
          </a:p>
          <a:p>
            <a:pPr>
              <a:spcAft>
                <a:spcPts val="400"/>
              </a:spcAft>
              <a:defRPr sz="1250" b="0">
                <a:solidFill>
                  <a:srgbClr val="CCDDEE"/>
                </a:solidFill>
                <a:latin typeface="Calibri"/>
              </a:defRPr>
            </a:pPr>
            <a:r>
              <a:t>Three engagement signals per comment</a:t>
            </a:r>
          </a:p>
        </p:txBody>
      </p:sp>
      <p:pic>
        <p:nvPicPr>
          <p:cNvPr id="4" name="Picture 3" descr="ds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83112" cy="311529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4532615"/>
          <a:ext cx="1118311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00200"/>
                <a:gridCol w="1600200"/>
                <a:gridCol w="1554480"/>
                <a:gridCol w="1554480"/>
                <a:gridCol w="1581912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p90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p99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score (upvotes)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5.1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15552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width (direct replies)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0.43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235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controversiality (0/1)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0.0416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32815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70% of comments receive no reply  |  18,455 controversial (4.16%)  |  score is heavy-tailed and is fuzzed by Reddit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Comment Properties</a:t>
            </a:r>
          </a:p>
          <a:p>
            <a:pPr>
              <a:spcAft>
                <a:spcPts val="400"/>
              </a:spcAft>
              <a:defRPr sz="1250" b="0">
                <a:solidFill>
                  <a:srgbClr val="CCDDEE"/>
                </a:solidFill>
                <a:latin typeface="Calibri"/>
              </a:defRPr>
            </a:pPr>
            <a:r>
              <a:t>Text length and position in the thread</a:t>
            </a:r>
          </a:p>
        </p:txBody>
      </p:sp>
      <p:pic>
        <p:nvPicPr>
          <p:cNvPr id="4" name="Picture 3" descr="ds_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43000"/>
            <a:ext cx="9326880" cy="303123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4338827"/>
          <a:ext cx="11183112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1737360"/>
                <a:gridCol w="1737360"/>
                <a:gridCol w="1737360"/>
                <a:gridCol w="16733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p90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 marT="12700" marB="12700" marL="76200" marR="76200">
                    <a:solidFill>
                      <a:srgbClr val="2E86C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body length (characters)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221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626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11390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body length (words)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94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1644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top-level comments (no ancestor)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57%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T="12700" marB="12700" marL="76200" marR="762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body is [removed] or [deleted]</a:t>
                      </a:r>
                    </a:p>
                  </a:txBody>
                  <a:tcPr marT="12700" marB="12700" marL="76200" marR="762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16.8%</a:t>
                      </a:r>
                    </a:p>
                  </a:txBody>
                  <a:tcPr marT="12700" marB="12700" marL="76200" marR="762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T="12700" marB="12700" marL="76200" marR="762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T="12700" marB="12700" marL="76200" marR="76200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T="12700" marB="12700" marL="76200" marR="76200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48755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B03A2E"/>
                </a:solidFill>
                <a:latin typeface="Calibri"/>
              </a:defRPr>
            </a:pPr>
            <a:r>
              <a:t>74,329 comments (17%) carry no text but still have engagement labels - decide to keep or filter.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Planned Analyses</a:t>
            </a:r>
          </a:p>
          <a:p>
            <a:pPr>
              <a:spcAft>
                <a:spcPts val="400"/>
              </a:spcAft>
              <a:defRPr sz="1250" b="0">
                <a:solidFill>
                  <a:srgbClr val="CCDDEE"/>
                </a:solidFill>
                <a:latin typeface="Calibri"/>
              </a:defRPr>
            </a:pPr>
            <a:r>
              <a:t>What this dataset is sized to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1161288"/>
          </a:xfrm>
          <a:prstGeom prst="rect">
            <a:avLst/>
          </a:prstGeom>
          <a:solidFill>
            <a:srgbClr val="ECF2F9"/>
          </a:solidFill>
          <a:ln w="1397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2E86C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16736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What predicts engagement: text or thread structure?</a:t>
            </a:r>
          </a:p>
          <a:p>
            <a:pPr>
              <a:spcAft>
                <a:spcPts val="4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One model class, swapped feature blocks (structural / lexical / semantic), with a noise block of matched width as a control. 60K test records resolve differences to ~0.002.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59736"/>
            <a:ext cx="11183112" cy="1161288"/>
          </a:xfrm>
          <a:prstGeom prst="rect">
            <a:avLst/>
          </a:prstGeom>
          <a:solidFill>
            <a:srgbClr val="ECF2F9"/>
          </a:solidFill>
          <a:ln w="1397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34056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2E86C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87752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How fast does the model go stale?</a:t>
            </a:r>
          </a:p>
          <a:p>
            <a:pPr>
              <a:spcAft>
                <a:spcPts val="4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Train on the earliest months and test forward, up to a 95-month horizon - eight years, versus the 16 months previous work could reach.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30752"/>
            <a:ext cx="11183112" cy="1161288"/>
          </a:xfrm>
          <a:prstGeom prst="rect">
            <a:avLst/>
          </a:prstGeom>
          <a:solidFill>
            <a:srgbClr val="ECF2F9"/>
          </a:solidFill>
          <a:ln w="1397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0507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2E86C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58768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Two-part reply modelling</a:t>
            </a:r>
          </a:p>
          <a:p>
            <a:pPr>
              <a:spcAft>
                <a:spcPts val="4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70% of comments get no reply, so split the target: will anyone reply at all (balanced 70/30), then how many given at least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001768"/>
            <a:ext cx="11183112" cy="1161288"/>
          </a:xfrm>
          <a:prstGeom prst="rect">
            <a:avLst/>
          </a:prstGeom>
          <a:solidFill>
            <a:srgbClr val="ECF2F9"/>
          </a:solidFill>
          <a:ln w="13970">
            <a:solidFill>
              <a:srgbClr val="1E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76088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1E8B4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129783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Add thread-level context</a:t>
            </a:r>
          </a:p>
          <a:p>
            <a:pPr>
              <a:spcAft>
                <a:spcPts val="400"/>
              </a:spcAft>
              <a:defRPr sz="1150" b="0">
                <a:solidFill>
                  <a:srgbClr val="555555"/>
                </a:solidFill>
                <a:latin typeface="Calibri"/>
              </a:defRPr>
            </a:pPr>
            <a:r>
              <a:t>57% of comments are top-level and have no ancestor features at all. Joining post score and age from the submission dumps should fill that gap.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276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Analyses 1-3 run on the dataset as it stands; 4 needs the submission dumps joined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